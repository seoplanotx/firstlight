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0E2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914400" y="914400"/>
            <a:ext cx="651967" cy="651967"/>
          </a:xfrm>
          <a:prstGeom prst="hear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932688"/>
            <a:ext cx="6400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Coffey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877824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Never miss what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14B8A6"/>
                </a:solidFill>
                <a:latin typeface="Arial"/>
              </a:rPr>
              <a:t>might matter.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160520"/>
            <a:ext cx="7680960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9D8E0"/>
                </a:solidFill>
                <a:latin typeface="Arial"/>
              </a:rPr>
              <a:t>A local-first companion that watches oncology research for you —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9D8E0"/>
                </a:solidFill>
                <a:latin typeface="Arial"/>
              </a:rPr>
              <a:t>and turns it into source-backed notes for your care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440680"/>
            <a:ext cx="1594713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Private by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5440680"/>
            <a:ext cx="1258214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0B2035"/>
                </a:solidFill>
                <a:latin typeface="Arial"/>
              </a:rPr>
              <a:t>Source-backed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5440680"/>
            <a:ext cx="1678838" cy="310896"/>
          </a:xfrm>
          <a:prstGeom prst="roundRect">
            <a:avLst>
              <a:gd name="adj" fmla="val 50000"/>
            </a:avLst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Built for families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468880"/>
            <a:ext cx="3108960" cy="21945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Arial"/>
              </a:rPr>
              <a:t>CLINICALTRIALS.GOV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Arial"/>
              </a:rPr>
              <a:t>PUBMED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Monitored daily.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9D8E0"/>
                </a:solidFill>
                <a:latin typeface="Arial"/>
              </a:rPr>
              <a:t>Matched to one profile.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8775A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A43"/>
                </a:solidFill>
                <a:latin typeface="Arial"/>
              </a:rPr>
              <a:t>Hope moves fast. Families can't keep up alone.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29000" cy="128016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C86"/>
                </a:solidFill>
                <a:latin typeface="Arial"/>
              </a:rPr>
              <a:t>~1,500+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new oncology studies indexed every 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429000" cy="128016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14884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B8A6"/>
                </a:solidFill>
                <a:latin typeface="Arial"/>
              </a:rPr>
              <a:t>Thousands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of cancer trials recruiting at any moment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429000" cy="128016"/>
          </a:xfrm>
          <a:prstGeom prst="round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4884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775A"/>
                </a:solidFill>
                <a:latin typeface="Arial"/>
              </a:rPr>
              <a:t>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80360"/>
            <a:ext cx="29260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455"/>
                </a:solidFill>
                <a:latin typeface="Arial"/>
              </a:rPr>
              <a:t>the average appointment leaves for new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69080"/>
            <a:ext cx="1051560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02A43"/>
                </a:solidFill>
                <a:latin typeface="Arial"/>
              </a:rPr>
              <a:t>When someone you love is diagnosed, the breakthroughs are out there — 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334455"/>
                </a:solidFill>
                <a:latin typeface="Arial"/>
              </a:rPr>
              <a:t>buried in journals and registries, written for clinicians, scattered across sources, and changing by the week.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334455"/>
                </a:solidFill>
                <a:latin typeface="Arial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8775A"/>
                </a:solidFill>
                <a:latin typeface="Arial"/>
              </a:rPr>
              <a:t>The information that could matter most often surfaces too late, or never reaches the right conversation.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Coffey  ·  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Arial"/>
              </a:rPr>
              <a:t>MEET COFFEY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Your tireless research assistant —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4B8A6"/>
                </a:solidFill>
                <a:latin typeface="Arial"/>
              </a:rPr>
              <a:t>working quietly on your kitchen counter.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31089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749039"/>
            <a:ext cx="20116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4224528"/>
            <a:ext cx="20574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2D2DC"/>
                </a:solidFill>
                <a:latin typeface="Arial"/>
              </a:rPr>
              <a:t>Scans ClinicalTrials.gov and PubMed using your loved one's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278892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31336" y="31089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6" y="3749039"/>
            <a:ext cx="20116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Understands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1336" y="4224528"/>
            <a:ext cx="20574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2D2DC"/>
                </a:solidFill>
                <a:latin typeface="Arial"/>
              </a:rPr>
              <a:t>Matches and scores findings with transparent, deterministic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78892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47104" y="31089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3749039"/>
            <a:ext cx="20116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Explains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4224528"/>
            <a:ext cx="20574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2D2DC"/>
                </a:solidFill>
                <a:latin typeface="Arial"/>
              </a:rPr>
              <a:t>Plain-language summaries with the reason each item surfaced.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278892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62872" y="31089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3749039"/>
            <a:ext cx="20116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Prepares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4224528"/>
            <a:ext cx="20574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2D2DC"/>
                </a:solidFill>
                <a:latin typeface="Arial"/>
              </a:rPr>
              <a:t>Exports a clean report to bring to your oncology team.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A43"/>
                </a:solidFill>
                <a:latin typeface="Arial"/>
              </a:rPr>
              <a:t>Four quiet steps. No terminal. No cloud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10515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075687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020823"/>
            <a:ext cx="30175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2A43"/>
                </a:solidFill>
                <a:latin typeface="Arial"/>
              </a:rPr>
              <a:t>Build the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020823"/>
            <a:ext cx="62179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Cancer type, subtype, biomarkers, stage, and prior therapies — entered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90087"/>
            <a:ext cx="10515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3191255"/>
            <a:ext cx="566928" cy="56692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136391"/>
            <a:ext cx="30175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2A43"/>
                </a:solidFill>
                <a:latin typeface="Arial"/>
              </a:rPr>
              <a:t>Monitor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136391"/>
            <a:ext cx="62179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Coffey queries trusted public sources on a schedule while it's open.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05655"/>
            <a:ext cx="10515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4306823"/>
            <a:ext cx="566928" cy="566928"/>
          </a:xfrm>
          <a:prstGeom prst="ellipse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251959"/>
            <a:ext cx="30175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2A43"/>
                </a:solidFill>
                <a:latin typeface="Arial"/>
              </a:rPr>
              <a:t>Match &amp;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251959"/>
            <a:ext cx="62179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Deterministic rules rank what's relevant and flag what's missing.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221223"/>
            <a:ext cx="105156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5422391"/>
            <a:ext cx="566928" cy="566928"/>
          </a:xfrm>
          <a:prstGeom prst="ellipse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367527"/>
            <a:ext cx="30175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02A43"/>
                </a:solidFill>
                <a:latin typeface="Arial"/>
              </a:rPr>
              <a:t>Brief your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367527"/>
            <a:ext cx="62179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Export a source-backed PDF with questions for your oncologist.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Coffey  ·  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40880" y="0"/>
            <a:ext cx="5148072" cy="6858000"/>
          </a:xfrm>
          <a:prstGeom prst="rect">
            <a:avLst/>
          </a:prstGeom>
          <a:solidFill>
            <a:srgbClr val="EF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Arial"/>
              </a:rPr>
              <a:t>EVIDENCE YOU CAN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585216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02A43"/>
                </a:solidFill>
                <a:latin typeface="Arial"/>
              </a:rPr>
              <a:t>Every finding shows its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5760720" cy="2926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7C86"/>
                </a:solidFill>
                <a:latin typeface="Arial"/>
              </a:rPr>
              <a:t>Source &amp; identifier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NCT IDs, PubMed citations, and direct links — never a black box.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34455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7C86"/>
                </a:solidFill>
                <a:latin typeface="Arial"/>
              </a:rPr>
              <a:t>A reason it surfaced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Biomarker alignment, recruitment status, geography, and freshness.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34455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E7C86"/>
                </a:solidFill>
                <a:latin typeface="Arial"/>
              </a:rPr>
              <a:t>Honest confidence labels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455"/>
                </a:solidFill>
                <a:latin typeface="Arial"/>
              </a:rPr>
              <a:t>High relevance · Worth reviewing · Low confidence · Insufficient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005840"/>
            <a:ext cx="43434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52360" y="1005840"/>
            <a:ext cx="4343400" cy="146304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26680" y="1353312"/>
            <a:ext cx="1342339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 relevance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79" y="1353312"/>
            <a:ext cx="1005839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0B2035"/>
                </a:solidFill>
                <a:latin typeface="Arial"/>
              </a:rPr>
              <a:t>Recruiting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0" y="1847088"/>
            <a:ext cx="38404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02A43"/>
                </a:solidFill>
                <a:latin typeface="Arial"/>
              </a:rPr>
              <a:t>Targeted triple-combination for biomarker-positive disease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2834640"/>
            <a:ext cx="384048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6B7A"/>
                </a:solidFill>
                <a:latin typeface="Arial"/>
              </a:rPr>
              <a:t>Why it surfaced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455"/>
                </a:solidFill>
                <a:latin typeface="Arial"/>
              </a:rPr>
              <a:t>Matches subtype + biomarker; phase II; recruiting near your region.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500" b="0" i="0">
                <a:solidFill>
                  <a:srgbClr val="334455"/>
                </a:solidFill>
                <a:latin typeface="Arial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B6B7A"/>
                </a:solidFill>
                <a:latin typeface="Arial"/>
              </a:rPr>
              <a:t>Discuss with your team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4455"/>
                </a:solidFill>
                <a:latin typeface="Arial"/>
              </a:rPr>
              <a:t>Is my variant eligible? What are the line-of-therapy requirements?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5166360"/>
            <a:ext cx="38404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E7C86"/>
                </a:solidFill>
                <a:latin typeface="Arial"/>
              </a:rPr>
              <a:t>Source:  ClinicalTrials.gov · NCT0000000   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Coffey  ·  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8775A"/>
                </a:solidFill>
                <a:latin typeface="Arial"/>
              </a:rPr>
              <a:t>PRIVATE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Identity stays on your device.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4B8A6"/>
                </a:solidFill>
                <a:latin typeface="Arial"/>
              </a:rPr>
              <a:t>Always your choice what leaves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5120640" cy="283464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108960"/>
            <a:ext cx="66934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MODE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Local-only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45720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2D2DC"/>
                </a:solidFill>
                <a:latin typeface="Arial"/>
              </a:rPr>
              <a:t>Everything runs on-device. Public sources are queried with search terms only. No AI provider ever receives case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834640"/>
            <a:ext cx="5120640" cy="283464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3108960"/>
            <a:ext cx="66934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00" b="1">
                <a:solidFill>
                  <a:srgbClr val="0B2035"/>
                </a:solidFill>
                <a:latin typeface="Arial"/>
              </a:rPr>
              <a:t>MODE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1188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De-identified AI assist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160520"/>
            <a:ext cx="45720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2D2DC"/>
                </a:solidFill>
                <a:latin typeface="Arial"/>
              </a:rPr>
              <a:t>Optional. Names, dates, and locations stay local. Only minimized, de-identified oncology context can be sent — after you acknowledge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Arial"/>
              </a:rPr>
              <a:t>WALK IN PREPARED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A43"/>
                </a:solidFill>
                <a:latin typeface="Arial"/>
              </a:rPr>
              <a:t>A report your oncologist can actually 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Arial"/>
              </a:rPr>
              <a:t>Daily Summary  &amp;  Full Oncology Review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770632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660904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Patient profile snapshot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520440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10712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New or changed items since last visit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270248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Possible trial matches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5020056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910328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Research &amp; drug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775A"/>
                </a:solidFill>
                <a:latin typeface="Arial"/>
              </a:rPr>
              <a:t>Built to be reviewed by a clinician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2770632"/>
            <a:ext cx="164592" cy="164592"/>
          </a:xfrm>
          <a:prstGeom prst="ellipse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660904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Why each item surfaced — and why it might not fit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520440"/>
            <a:ext cx="164592" cy="164592"/>
          </a:xfrm>
          <a:prstGeom prst="ellipse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410712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Missing information &amp; data gaps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4270248"/>
            <a:ext cx="164592" cy="164592"/>
          </a:xfrm>
          <a:prstGeom prst="ellipse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160520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Questions to discuss with your team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5020056"/>
            <a:ext cx="164592" cy="164592"/>
          </a:xfrm>
          <a:prstGeom prst="ellipse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910328"/>
            <a:ext cx="4389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334455"/>
                </a:solidFill>
                <a:latin typeface="Arial"/>
              </a:rPr>
              <a:t>Evidence appendix with every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Coffey  ·  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Arial"/>
              </a:rPr>
              <a:t>HONEST BY 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A43"/>
                </a:solidFill>
                <a:latin typeface="Arial"/>
              </a:rPr>
              <a:t>We tell you the truth about what this 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EF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46304" cy="365760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E7C86"/>
                </a:solidFill>
                <a:latin typeface="Arial"/>
              </a:rPr>
              <a:t>Coffey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Arial"/>
              </a:rPr>
              <a:t>✓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An information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93008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Arial"/>
              </a:rPr>
              <a:t>✓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summarizer of public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51376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Arial"/>
              </a:rPr>
              <a:t>✓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preparation tool for visits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09744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E7C86"/>
                </a:solidFill>
                <a:latin typeface="Arial"/>
              </a:rPr>
              <a:t>✓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Transparent about its reasoning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FB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146304" cy="3657600"/>
          </a:xfrm>
          <a:prstGeom prst="round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8775A"/>
                </a:solidFill>
                <a:latin typeface="Arial"/>
              </a:rPr>
              <a:t>Coffey is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34640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775A"/>
                </a:solidFill>
                <a:latin typeface="Arial"/>
              </a:rPr>
              <a:t>—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diagnostic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93008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775A"/>
                </a:solidFill>
                <a:latin typeface="Arial"/>
              </a:rPr>
              <a:t>—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treatment recommender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151376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775A"/>
                </a:solidFill>
                <a:latin typeface="Arial"/>
              </a:rPr>
              <a:t>—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trial-eligibility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809744"/>
            <a:ext cx="4572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775A"/>
                </a:solidFill>
                <a:latin typeface="Arial"/>
              </a:rPr>
              <a:t>—  </a:t>
            </a:r>
            <a:r>
              <a:rPr sz="1550" b="0" i="0">
                <a:solidFill>
                  <a:srgbClr val="334455"/>
                </a:solidFill>
                <a:latin typeface="Arial"/>
              </a:rPr>
              <a:t>A substitute for your oncologist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5B6B7A"/>
                </a:solidFill>
                <a:latin typeface="Arial"/>
              </a:rPr>
              <a:t>Every finding requires clinician review. Coffey helps you ask better questions — not make medical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Coffey  ·  08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Arial"/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For the people doing the research at 2 a.m.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56032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37560"/>
            <a:ext cx="28346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31920"/>
            <a:ext cx="283464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2D2DC"/>
                </a:solidFill>
                <a:latin typeface="Arial"/>
              </a:rPr>
              <a:t>Staying informed without drowning in journals.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945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00600" y="256032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337560"/>
            <a:ext cx="28346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Caregivers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931920"/>
            <a:ext cx="283464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2D2DC"/>
                </a:solidFill>
                <a:latin typeface="Arial"/>
              </a:rPr>
              <a:t>The spouse, the daughter, the friend who became the case manager.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945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12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200" y="256032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337560"/>
            <a:ext cx="28346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Care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931920"/>
            <a:ext cx="283464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2D2DC"/>
                </a:solidFill>
                <a:latin typeface="Arial"/>
              </a:rPr>
              <a:t>Arriving to a structured, source-backed starting 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86"/>
                </a:solidFill>
                <a:latin typeface="Arial"/>
              </a:rPr>
              <a:t>WHERE IT'S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86384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02A43"/>
                </a:solidFill>
                <a:latin typeface="Arial"/>
              </a:rPr>
              <a:t>The watch keeps getting sharper.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8992" y="217627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7744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Deeper trial feasibility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8036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Smarter geography and status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9202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26864" y="217627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37744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More safety connectors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88036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Additional drug label and safety 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192024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74736" y="217627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237744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Multi-profile households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88036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One app, more than one loved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9476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8992" y="405079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25196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Offline evidence caching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75488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Keep key sources available anywhere.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379476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26864" y="405079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425196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Stronger change diffing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6864" y="475488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See exactly what moved since last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18704" y="3794760"/>
            <a:ext cx="34290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74736" y="4050792"/>
            <a:ext cx="365760" cy="914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4251960"/>
            <a:ext cx="29260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02A43"/>
                </a:solidFill>
                <a:latin typeface="Arial"/>
              </a:rPr>
              <a:t>Auto-update channel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754880"/>
            <a:ext cx="2971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455"/>
                </a:solidFill>
                <a:latin typeface="Arial"/>
              </a:rPr>
              <a:t>Seamless improvements over 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19088"/>
            <a:ext cx="1371600" cy="3108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Arial"/>
              </a:rPr>
              <a:t>Coffey  · 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rt 3"/>
          <p:cNvSpPr/>
          <p:nvPr/>
        </p:nvSpPr>
        <p:spPr>
          <a:xfrm>
            <a:off x="5806440" y="777240"/>
            <a:ext cx="680313" cy="680313"/>
          </a:xfrm>
          <a:prstGeom prst="hear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481328"/>
            <a:ext cx="1219169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8775A"/>
                </a:solidFill>
                <a:latin typeface="Arial"/>
              </a:rPr>
              <a:t>WHY IT'S CALLED COFFEY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9262872" cy="1554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C9D8E0"/>
                </a:solidFill>
                <a:latin typeface="Georgia"/>
              </a:rPr>
              <a:t>Coffey is named for my mom.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FFFFFF"/>
                </a:solidFill>
                <a:latin typeface="Georgia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4A259"/>
                </a:solidFill>
                <a:latin typeface="Georgia"/>
              </a:rPr>
              <a:t>Judy Coffey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840480"/>
            <a:ext cx="9079992" cy="1554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D8E3EA"/>
                </a:solidFill>
                <a:latin typeface="Georgia"/>
              </a:rPr>
              <a:t>We went searching through the research and found a promising trio of drugs from recent trials. We brought it to her doctor, and he agreed it was worth a try.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500" b="0" i="0">
                <a:solidFill>
                  <a:srgbClr val="FFFFFF"/>
                </a:solidFill>
                <a:latin typeface="Georgia"/>
              </a:rPr>
              <a:t/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1">
                <a:solidFill>
                  <a:srgbClr val="E8775A"/>
                </a:solidFill>
                <a:latin typeface="Georgia"/>
              </a:rPr>
              <a:t>She passed before she could start it — in April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669280"/>
            <a:ext cx="9262872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So no other family finds what matters too late.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4A259"/>
                </a:solidFill>
                <a:latin typeface="Arial"/>
              </a:rPr>
              <a:t>In loving memory of Judy Coffey.  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art 3"/>
          <p:cNvSpPr/>
          <p:nvPr/>
        </p:nvSpPr>
        <p:spPr>
          <a:xfrm>
            <a:off x="914400" y="1005840"/>
            <a:ext cx="623620" cy="623620"/>
          </a:xfrm>
          <a:prstGeom prst="heart">
            <a:avLst/>
          </a:prstGeom>
          <a:solidFill>
            <a:srgbClr val="E87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024128"/>
            <a:ext cx="640080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Coffey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Bring the latest research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4B8A6"/>
                </a:solidFill>
                <a:latin typeface="Arial"/>
              </a:rPr>
              <a:t>into the conversation that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114800"/>
            <a:ext cx="96012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C9D8E0"/>
                </a:solidFill>
                <a:latin typeface="Arial"/>
              </a:rPr>
              <a:t>Local-first.  Source-backed.  Private by design.  Free and open-source.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5029200"/>
            <a:ext cx="3017520" cy="7772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B2035"/>
                </a:solidFill>
                <a:latin typeface="Arial"/>
              </a:rPr>
              <a:t>Download for macOS &amp;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138928"/>
            <a:ext cx="640080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github.com/seoplanotx/oncowatch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172200"/>
            <a:ext cx="10058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9BB0BE"/>
                </a:solidFill>
                <a:latin typeface="Arial"/>
              </a:rPr>
              <a:t>Coffey is an information tool, not medical advice. Every finding requires clinician review.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